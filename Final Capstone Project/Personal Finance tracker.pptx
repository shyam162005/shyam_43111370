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i Gnanadeesigan" userId="0fc09392b4c6d726" providerId="LiveId" clId="{AF7D0C11-622D-49CF-8807-48A245157B77}"/>
    <pc:docChg chg="modSld">
      <pc:chgData name="Gopi Gnanadeesigan" userId="0fc09392b4c6d726" providerId="LiveId" clId="{AF7D0C11-622D-49CF-8807-48A245157B77}" dt="2025-12-20T15:02:46.231" v="15" actId="20577"/>
      <pc:docMkLst>
        <pc:docMk/>
      </pc:docMkLst>
      <pc:sldChg chg="modSp mod">
        <pc:chgData name="Gopi Gnanadeesigan" userId="0fc09392b4c6d726" providerId="LiveId" clId="{AF7D0C11-622D-49CF-8807-48A245157B77}" dt="2025-12-20T15:02:46.231" v="15" actId="20577"/>
        <pc:sldMkLst>
          <pc:docMk/>
          <pc:sldMk cId="2590170258" sldId="286"/>
        </pc:sldMkLst>
        <pc:spChg chg="mod">
          <ac:chgData name="Gopi Gnanadeesigan" userId="0fc09392b4c6d726" providerId="LiveId" clId="{AF7D0C11-622D-49CF-8807-48A245157B77}" dt="2025-12-20T15:02:46.231" v="15" actId="20577"/>
          <ac:spMkLst>
            <pc:docMk/>
            <pc:sldMk cId="2590170258" sldId="286"/>
            <ac:spMk id="2" creationId="{F1FDF266-C02C-950E-009A-9AE50014D45B}"/>
          </ac:spMkLst>
        </pc:spChg>
        <pc:spChg chg="mod">
          <ac:chgData name="Gopi Gnanadeesigan" userId="0fc09392b4c6d726" providerId="LiveId" clId="{AF7D0C11-622D-49CF-8807-48A245157B77}" dt="2025-12-20T15:02:33.766" v="0"/>
          <ac:spMkLst>
            <pc:docMk/>
            <pc:sldMk cId="2590170258" sldId="286"/>
            <ac:spMk id="3" creationId="{A216EE3C-3C5F-681B-BB18-B2326825A4C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91CDF-287C-7373-F3AF-AE94959DE0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611C7-DF2C-63C1-BA92-EBD643DC5B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E1E4F7-C641-B4A9-9307-CCE4B8116DAF}"/>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4E33E627-5B91-BE6E-E42D-F6B86A2081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B8BF6-01C9-4671-FE1A-A923C65EAFC2}"/>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2454860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ECCEF-B391-0783-659C-AB586ACD5E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8A1FB1-5002-018A-C530-8CBB79DC7C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A72772-AB6B-D649-FE2E-721F0B6D11CC}"/>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4F4BDCC5-845C-EC0D-6EE6-65B005F187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AB0C0F-C0C9-80E5-9CAF-756281B18197}"/>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3746650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4B93A-D14F-21B4-A36D-C78594B0CC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FF22112-1CD2-4B66-2D0E-D2D9E5AFF1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F30589-569F-150C-6ABB-5895CA7300B2}"/>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D7C28D5C-061E-CF62-BE3A-7331073DE4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3E8B16-BB14-D89C-BF15-85E4FEDD505A}"/>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184348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BEBD1-05FE-B6A7-A9F2-4FBFDD34D8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094313D-D368-1E4B-8662-2DAD0892D1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AC3EC29-71B8-78FB-C362-FF892FAE11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5230AD-7CB3-4D7A-DE3D-5DE00957389D}"/>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6" name="Footer Placeholder 5">
            <a:extLst>
              <a:ext uri="{FF2B5EF4-FFF2-40B4-BE49-F238E27FC236}">
                <a16:creationId xmlns:a16="http://schemas.microsoft.com/office/drawing/2014/main" id="{74F8772C-4E04-443D-F8B8-CAEC136D7B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A46102-4D2E-FD1F-9637-115C4F2FAD0B}"/>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2973843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4986B-B0E7-7B81-EF68-44AF5CFFEB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245FC9-4A3C-706C-339B-0CFB2C28AE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AB4ADD-BFC4-5DDB-1529-1FCB5ECF46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DBD1C9-7140-BF7E-5D59-0626518E63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F8850E9-7018-EA19-72A7-FC1EC0C047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6018FE-784A-3D37-94E4-9CEC22690BD5}"/>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8" name="Footer Placeholder 7">
            <a:extLst>
              <a:ext uri="{FF2B5EF4-FFF2-40B4-BE49-F238E27FC236}">
                <a16:creationId xmlns:a16="http://schemas.microsoft.com/office/drawing/2014/main" id="{C4865323-FB6C-4E25-DF95-37C7E29DC9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06C334D-DDAB-E62F-6C44-1F2C05C8B897}"/>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562482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7EFB1-8BA0-3E9D-5172-BEA297C2D36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98FCF8-45C6-47FC-3CD4-D17BD26E8C87}"/>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4" name="Footer Placeholder 3">
            <a:extLst>
              <a:ext uri="{FF2B5EF4-FFF2-40B4-BE49-F238E27FC236}">
                <a16:creationId xmlns:a16="http://schemas.microsoft.com/office/drawing/2014/main" id="{774865B8-6C0E-7E3F-AB78-31FEA4C6C0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CF13C81-FBF5-E00D-627B-02063F518778}"/>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1098818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022135-04CF-AB7A-7D2A-D626E8B1F087}"/>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3" name="Footer Placeholder 2">
            <a:extLst>
              <a:ext uri="{FF2B5EF4-FFF2-40B4-BE49-F238E27FC236}">
                <a16:creationId xmlns:a16="http://schemas.microsoft.com/office/drawing/2014/main" id="{3EF81159-53F4-8D7A-32D1-57DC4CE3A44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9B8FF7-DC4E-8177-BA16-B3FF042E98AC}"/>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4003474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2CB4-DE9E-8E23-943D-B182860D19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8C5D259-2622-28DA-B4C4-3B2FA2B1CF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646973-6D57-71A6-D4D8-C2AC7DCF56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DC1F5B-6D85-6DD5-3593-1CDB041B780D}"/>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6" name="Footer Placeholder 5">
            <a:extLst>
              <a:ext uri="{FF2B5EF4-FFF2-40B4-BE49-F238E27FC236}">
                <a16:creationId xmlns:a16="http://schemas.microsoft.com/office/drawing/2014/main" id="{ECB15C15-54FC-6CFB-CB19-7947535F41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738591-7E21-0513-8F88-3A318ED49133}"/>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35600470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DEC76-301F-147B-E0B3-37B2F090F2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DA853E-AB4B-E5BA-2A5B-CBB60BA82D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651B258-7348-0779-5F51-24E67F62E4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4011EC-D0B1-89CA-385B-8E06C2865EFE}"/>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6" name="Footer Placeholder 5">
            <a:extLst>
              <a:ext uri="{FF2B5EF4-FFF2-40B4-BE49-F238E27FC236}">
                <a16:creationId xmlns:a16="http://schemas.microsoft.com/office/drawing/2014/main" id="{CCDDC7B2-326D-B4D2-0CCE-39792EC8D6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7A7681-DDD2-2FEE-B2EA-9639D2E99C4F}"/>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12568564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EFD25-BDA1-4A19-0F2F-3281D31019D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F9C3AF-8A12-542F-53A0-79779C9441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7A8CF-F35E-BEC1-B939-8EE41EC4A784}"/>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4701860B-686A-2168-8E91-B54410D846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D8DD1-0DB1-07E1-9816-A9DD115C2317}"/>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22435822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622546-D7D7-5719-81C1-5E177F1BD1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632B30A-F94E-9065-29C7-C8766535A4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4B969A-7260-2041-F90C-6AFD9A3BFDC3}"/>
              </a:ext>
            </a:extLst>
          </p:cNvPr>
          <p:cNvSpPr>
            <a:spLocks noGrp="1"/>
          </p:cNvSpPr>
          <p:nvPr>
            <p:ph type="dt" sz="half" idx="10"/>
          </p:nvPr>
        </p:nvSpPr>
        <p:spPr/>
        <p:txBody>
          <a:body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932F386C-F587-B7F5-4AE2-74007E09E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D03F6E-1273-27E5-B7B9-838474EADB9F}"/>
              </a:ext>
            </a:extLst>
          </p:cNvPr>
          <p:cNvSpPr>
            <a:spLocks noGrp="1"/>
          </p:cNvSpPr>
          <p:nvPr>
            <p:ph type="sldNum" sz="quarter" idx="12"/>
          </p:nvPr>
        </p:nvSpPr>
        <p:spPr/>
        <p:txBody>
          <a:bodyPr/>
          <a:lstStyle/>
          <a:p>
            <a:fld id="{8B33538A-2DF1-4E92-A29A-412027D29C48}" type="slidenum">
              <a:rPr lang="en-US" smtClean="0"/>
              <a:t>‹#›</a:t>
            </a:fld>
            <a:endParaRPr lang="en-US"/>
          </a:p>
        </p:txBody>
      </p:sp>
    </p:spTree>
    <p:extLst>
      <p:ext uri="{BB962C8B-B14F-4D97-AF65-F5344CB8AC3E}">
        <p14:creationId xmlns:p14="http://schemas.microsoft.com/office/powerpoint/2010/main" val="3560939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B1A488-AD96-BDFA-7542-D6C6B70161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F10E14-A834-1C43-ECAD-BA67323AFE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E45D2-47A7-E3AF-F102-130FFE3CF1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4DE235-11DA-4CC0-88EC-35C4D6EA8DED}" type="datetimeFigureOut">
              <a:rPr lang="en-US" smtClean="0"/>
              <a:t>20-Dec-25</a:t>
            </a:fld>
            <a:endParaRPr lang="en-US"/>
          </a:p>
        </p:txBody>
      </p:sp>
      <p:sp>
        <p:nvSpPr>
          <p:cNvPr id="5" name="Footer Placeholder 4">
            <a:extLst>
              <a:ext uri="{FF2B5EF4-FFF2-40B4-BE49-F238E27FC236}">
                <a16:creationId xmlns:a16="http://schemas.microsoft.com/office/drawing/2014/main" id="{196BDA1E-1A1C-DE9D-94DB-8C133DE2CC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1782C47-0EB8-A4B6-AE34-4041B4E2E3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33538A-2DF1-4E92-A29A-412027D29C48}" type="slidenum">
              <a:rPr lang="en-US" smtClean="0"/>
              <a:t>‹#›</a:t>
            </a:fld>
            <a:endParaRPr lang="en-US"/>
          </a:p>
        </p:txBody>
      </p:sp>
    </p:spTree>
    <p:extLst>
      <p:ext uri="{BB962C8B-B14F-4D97-AF65-F5344CB8AC3E}">
        <p14:creationId xmlns:p14="http://schemas.microsoft.com/office/powerpoint/2010/main" val="3390121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EC4CF-D1C7-4A97-81DC-09ED1F7561C8}"/>
              </a:ext>
            </a:extLst>
          </p:cNvPr>
          <p:cNvSpPr>
            <a:spLocks noGrp="1"/>
          </p:cNvSpPr>
          <p:nvPr>
            <p:ph type="ctrTitle"/>
          </p:nvPr>
        </p:nvSpPr>
        <p:spPr>
          <a:xfrm>
            <a:off x="1524000" y="1122363"/>
            <a:ext cx="9144000" cy="3836136"/>
          </a:xfrm>
        </p:spPr>
        <p:txBody>
          <a:bodyPr>
            <a:normAutofit/>
          </a:bodyPr>
          <a:lstStyle/>
          <a:p>
            <a:r>
              <a:rPr lang="en-US" dirty="0">
                <a:solidFill>
                  <a:srgbClr val="FF0000"/>
                </a:solidFill>
              </a:rPr>
              <a:t>Case Study</a:t>
            </a:r>
            <a:br>
              <a:rPr lang="en-US" dirty="0">
                <a:solidFill>
                  <a:srgbClr val="FF0000"/>
                </a:solidFill>
              </a:rPr>
            </a:br>
            <a:r>
              <a:rPr lang="en-US" dirty="0">
                <a:solidFill>
                  <a:srgbClr val="FF0000"/>
                </a:solidFill>
              </a:rPr>
              <a:t>on</a:t>
            </a:r>
            <a:br>
              <a:rPr lang="en-US" dirty="0">
                <a:solidFill>
                  <a:srgbClr val="FF0000"/>
                </a:solidFill>
              </a:rPr>
            </a:br>
            <a:r>
              <a:rPr lang="en-US" u="sng" dirty="0">
                <a:solidFill>
                  <a:srgbClr val="FF0000"/>
                </a:solidFill>
              </a:rPr>
              <a:t>Personal Finance Tracker Management System</a:t>
            </a:r>
          </a:p>
        </p:txBody>
      </p:sp>
    </p:spTree>
    <p:extLst>
      <p:ext uri="{BB962C8B-B14F-4D97-AF65-F5344CB8AC3E}">
        <p14:creationId xmlns:p14="http://schemas.microsoft.com/office/powerpoint/2010/main" val="4246734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E666-0CD1-4F77-6E8F-C37B4B2884F4}"/>
              </a:ext>
            </a:extLst>
          </p:cNvPr>
          <p:cNvSpPr>
            <a:spLocks noGrp="1"/>
          </p:cNvSpPr>
          <p:nvPr>
            <p:ph type="title"/>
          </p:nvPr>
        </p:nvSpPr>
        <p:spPr/>
        <p:txBody>
          <a:bodyPr/>
          <a:lstStyle/>
          <a:p>
            <a:r>
              <a:rPr lang="en-US" dirty="0"/>
              <a:t>                          INTRODUCTION</a:t>
            </a:r>
          </a:p>
        </p:txBody>
      </p:sp>
      <p:sp>
        <p:nvSpPr>
          <p:cNvPr id="3" name="Content Placeholder 2">
            <a:extLst>
              <a:ext uri="{FF2B5EF4-FFF2-40B4-BE49-F238E27FC236}">
                <a16:creationId xmlns:a16="http://schemas.microsoft.com/office/drawing/2014/main" id="{776ED604-0436-81A3-2695-3DF85020D863}"/>
              </a:ext>
            </a:extLst>
          </p:cNvPr>
          <p:cNvSpPr>
            <a:spLocks noGrp="1"/>
          </p:cNvSpPr>
          <p:nvPr>
            <p:ph idx="1"/>
          </p:nvPr>
        </p:nvSpPr>
        <p:spPr/>
        <p:txBody>
          <a:bodyPr>
            <a:normAutofit lnSpcReduction="10000"/>
          </a:bodyPr>
          <a:lstStyle/>
          <a:p>
            <a:r>
              <a:rPr lang="en-US" dirty="0"/>
              <a:t>The Personal Finance Tracker Management System is designed to help individuals manage their financial activities effectively. </a:t>
            </a:r>
          </a:p>
          <a:p>
            <a:r>
              <a:rPr lang="en-US" dirty="0"/>
              <a:t>This project automates the process of recording income and expenses in a structured and secure manner. </a:t>
            </a:r>
          </a:p>
          <a:p>
            <a:r>
              <a:rPr lang="en-US" dirty="0"/>
              <a:t>It provides users with a platform to track daily transactions, monitor spending habits, and calculate current balances. </a:t>
            </a:r>
          </a:p>
          <a:p>
            <a:r>
              <a:rPr lang="en-US" dirty="0"/>
              <a:t>The system ensures secure access through user authentication and protects sensitive financial data. </a:t>
            </a:r>
          </a:p>
          <a:p>
            <a:r>
              <a:rPr lang="en-US" dirty="0"/>
              <a:t>The application follows a layered architecture using Spring Boot and REST APIs to maintain scalability and maintainability.</a:t>
            </a:r>
          </a:p>
        </p:txBody>
      </p:sp>
    </p:spTree>
    <p:extLst>
      <p:ext uri="{BB962C8B-B14F-4D97-AF65-F5344CB8AC3E}">
        <p14:creationId xmlns:p14="http://schemas.microsoft.com/office/powerpoint/2010/main" val="4072524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8CF57-B20E-3A3B-81FB-3BEF6ABCBBF3}"/>
              </a:ext>
            </a:extLst>
          </p:cNvPr>
          <p:cNvSpPr>
            <a:spLocks noGrp="1"/>
          </p:cNvSpPr>
          <p:nvPr>
            <p:ph type="title"/>
          </p:nvPr>
        </p:nvSpPr>
        <p:spPr/>
        <p:txBody>
          <a:bodyPr/>
          <a:lstStyle/>
          <a:p>
            <a:r>
              <a:rPr lang="en-US" dirty="0"/>
              <a:t>                                ABSTRACT</a:t>
            </a:r>
          </a:p>
        </p:txBody>
      </p:sp>
      <p:sp>
        <p:nvSpPr>
          <p:cNvPr id="3" name="Content Placeholder 2">
            <a:extLst>
              <a:ext uri="{FF2B5EF4-FFF2-40B4-BE49-F238E27FC236}">
                <a16:creationId xmlns:a16="http://schemas.microsoft.com/office/drawing/2014/main" id="{14198D19-79C8-FDC6-670D-C570CF8B4BAF}"/>
              </a:ext>
            </a:extLst>
          </p:cNvPr>
          <p:cNvSpPr>
            <a:spLocks noGrp="1"/>
          </p:cNvSpPr>
          <p:nvPr>
            <p:ph idx="1"/>
          </p:nvPr>
        </p:nvSpPr>
        <p:spPr/>
        <p:txBody>
          <a:bodyPr>
            <a:normAutofit fontScale="85000" lnSpcReduction="10000"/>
          </a:bodyPr>
          <a:lstStyle/>
          <a:p>
            <a:r>
              <a:rPr lang="en-US" dirty="0"/>
              <a:t>The </a:t>
            </a:r>
            <a:r>
              <a:rPr lang="en-US" dirty="0">
                <a:solidFill>
                  <a:srgbClr val="FF0000"/>
                </a:solidFill>
              </a:rPr>
              <a:t>Personal Finance Tracker Management System </a:t>
            </a:r>
            <a:r>
              <a:rPr lang="en-US" dirty="0"/>
              <a:t>is a web-based application developed to help users track their income and expenses efficiently. The main objective of this project is to provide a secure and user-friendly system for managing personal financial records.</a:t>
            </a:r>
          </a:p>
          <a:p>
            <a:r>
              <a:rPr lang="en-US" dirty="0"/>
              <a:t>Users can register, log in securely, add income and expense transactions, view transaction history, and track their current balance in real time. Passwords are securely stored using hashing techniques to ensure data protection.</a:t>
            </a:r>
          </a:p>
          <a:p>
            <a:r>
              <a:rPr lang="en-US" dirty="0"/>
              <a:t>The backend of this application is developed using </a:t>
            </a:r>
            <a:r>
              <a:rPr lang="en-US" b="1" dirty="0"/>
              <a:t>Spring Boot</a:t>
            </a:r>
            <a:r>
              <a:rPr lang="en-US" dirty="0"/>
              <a:t>, </a:t>
            </a:r>
            <a:r>
              <a:rPr lang="en-US" b="1" dirty="0"/>
              <a:t>Spring Data JPA</a:t>
            </a:r>
            <a:r>
              <a:rPr lang="en-US" dirty="0"/>
              <a:t>, and </a:t>
            </a:r>
            <a:r>
              <a:rPr lang="en-US" b="1" dirty="0"/>
              <a:t>Hibernate</a:t>
            </a:r>
            <a:r>
              <a:rPr lang="en-US" dirty="0"/>
              <a:t>, while </a:t>
            </a:r>
            <a:r>
              <a:rPr lang="en-US" b="1" dirty="0"/>
              <a:t>MySQL</a:t>
            </a:r>
            <a:r>
              <a:rPr lang="en-US" dirty="0"/>
              <a:t> is used as the database. The frontend is built using </a:t>
            </a:r>
            <a:r>
              <a:rPr lang="en-US" b="1" dirty="0"/>
              <a:t>HTML, CSS, and JavaScript</a:t>
            </a:r>
            <a:r>
              <a:rPr lang="en-US" dirty="0"/>
              <a:t>, which communicates with backend REST APIs.</a:t>
            </a:r>
          </a:p>
          <a:p>
            <a:r>
              <a:rPr lang="en-US" dirty="0"/>
              <a:t>This project improves financial awareness and encourages better money management practices.</a:t>
            </a:r>
          </a:p>
        </p:txBody>
      </p:sp>
    </p:spTree>
    <p:extLst>
      <p:ext uri="{BB962C8B-B14F-4D97-AF65-F5344CB8AC3E}">
        <p14:creationId xmlns:p14="http://schemas.microsoft.com/office/powerpoint/2010/main" val="3251114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0FBF-5491-FC4B-1814-E1CF5DB42E2B}"/>
              </a:ext>
            </a:extLst>
          </p:cNvPr>
          <p:cNvSpPr>
            <a:spLocks noGrp="1"/>
          </p:cNvSpPr>
          <p:nvPr>
            <p:ph type="title"/>
          </p:nvPr>
        </p:nvSpPr>
        <p:spPr>
          <a:xfrm>
            <a:off x="838200" y="365125"/>
            <a:ext cx="10515600" cy="1325563"/>
          </a:xfrm>
        </p:spPr>
        <p:txBody>
          <a:bodyPr/>
          <a:lstStyle/>
          <a:p>
            <a:r>
              <a:rPr lang="en-US" dirty="0">
                <a:solidFill>
                  <a:srgbClr val="FF0000"/>
                </a:solidFill>
              </a:rPr>
              <a:t>                      CLIENT REQUIREMENT</a:t>
            </a:r>
          </a:p>
        </p:txBody>
      </p:sp>
      <p:sp>
        <p:nvSpPr>
          <p:cNvPr id="3" name="Content Placeholder 2">
            <a:extLst>
              <a:ext uri="{FF2B5EF4-FFF2-40B4-BE49-F238E27FC236}">
                <a16:creationId xmlns:a16="http://schemas.microsoft.com/office/drawing/2014/main" id="{F59A2A9B-0F48-C14E-3167-2C52E9287FBA}"/>
              </a:ext>
            </a:extLst>
          </p:cNvPr>
          <p:cNvSpPr>
            <a:spLocks noGrp="1"/>
          </p:cNvSpPr>
          <p:nvPr>
            <p:ph idx="1"/>
          </p:nvPr>
        </p:nvSpPr>
        <p:spPr/>
        <p:txBody>
          <a:bodyPr/>
          <a:lstStyle/>
          <a:p>
            <a:pPr marL="0" indent="0">
              <a:buNone/>
            </a:pPr>
            <a:r>
              <a:rPr lang="en-US" dirty="0"/>
              <a:t>The client requires a Personal Finance Management system where:</a:t>
            </a:r>
          </a:p>
          <a:p>
            <a:r>
              <a:rPr lang="en-US" dirty="0"/>
              <a:t>Users can securely register and log in.</a:t>
            </a:r>
          </a:p>
          <a:p>
            <a:r>
              <a:rPr lang="en-US" dirty="0"/>
              <a:t>Users can add income and expense transactions.</a:t>
            </a:r>
          </a:p>
          <a:p>
            <a:r>
              <a:rPr lang="en-US" dirty="0"/>
              <a:t>Transactions should include amount, category, type, description, and timestamp.</a:t>
            </a:r>
          </a:p>
          <a:p>
            <a:r>
              <a:rPr lang="en-US" dirty="0"/>
              <a:t>Users should be able to view and delete transactions.</a:t>
            </a:r>
          </a:p>
          <a:p>
            <a:r>
              <a:rPr lang="en-US" dirty="0"/>
              <a:t>The system should automatically calculate total income, total expenses, and balance.</a:t>
            </a:r>
          </a:p>
          <a:p>
            <a:r>
              <a:rPr lang="en-US" dirty="0"/>
              <a:t>Data should be stored securely in a database.</a:t>
            </a:r>
          </a:p>
          <a:p>
            <a:endParaRPr lang="en-US" dirty="0"/>
          </a:p>
        </p:txBody>
      </p:sp>
    </p:spTree>
    <p:extLst>
      <p:ext uri="{BB962C8B-B14F-4D97-AF65-F5344CB8AC3E}">
        <p14:creationId xmlns:p14="http://schemas.microsoft.com/office/powerpoint/2010/main" val="4163571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9891-5CAF-44E0-68F4-CF280CD45EF3}"/>
              </a:ext>
            </a:extLst>
          </p:cNvPr>
          <p:cNvSpPr>
            <a:spLocks noGrp="1"/>
          </p:cNvSpPr>
          <p:nvPr>
            <p:ph type="title"/>
          </p:nvPr>
        </p:nvSpPr>
        <p:spPr/>
        <p:txBody>
          <a:bodyPr/>
          <a:lstStyle/>
          <a:p>
            <a:r>
              <a:rPr lang="en-US" dirty="0">
                <a:solidFill>
                  <a:srgbClr val="FF0000"/>
                </a:solidFill>
              </a:rPr>
              <a:t>WHAT WE ARE GOING TO BUILD</a:t>
            </a:r>
          </a:p>
        </p:txBody>
      </p:sp>
      <p:sp>
        <p:nvSpPr>
          <p:cNvPr id="3" name="Content Placeholder 2">
            <a:extLst>
              <a:ext uri="{FF2B5EF4-FFF2-40B4-BE49-F238E27FC236}">
                <a16:creationId xmlns:a16="http://schemas.microsoft.com/office/drawing/2014/main" id="{3BC2E36A-C94D-A5B6-CD43-1331AFB819C4}"/>
              </a:ext>
            </a:extLst>
          </p:cNvPr>
          <p:cNvSpPr>
            <a:spLocks noGrp="1"/>
          </p:cNvSpPr>
          <p:nvPr>
            <p:ph idx="1"/>
          </p:nvPr>
        </p:nvSpPr>
        <p:spPr/>
        <p:txBody>
          <a:bodyPr/>
          <a:lstStyle/>
          <a:p>
            <a:pPr marL="0" indent="0">
              <a:buNone/>
            </a:pPr>
            <a:r>
              <a:rPr lang="en-US" dirty="0"/>
              <a:t>We have built a </a:t>
            </a:r>
            <a:r>
              <a:rPr lang="en-US" b="1" dirty="0"/>
              <a:t>Personal Finance Tracker Management System</a:t>
            </a:r>
            <a:r>
              <a:rPr lang="en-US" dirty="0"/>
              <a:t> with the following features:</a:t>
            </a:r>
          </a:p>
          <a:p>
            <a:r>
              <a:rPr lang="en-US" dirty="0"/>
              <a:t>Secure Login and Registration system.</a:t>
            </a:r>
          </a:p>
          <a:p>
            <a:r>
              <a:rPr lang="en-US" dirty="0"/>
              <a:t>Add income and expense transactions.</a:t>
            </a:r>
          </a:p>
          <a:p>
            <a:r>
              <a:rPr lang="en-US" dirty="0"/>
              <a:t>View transaction history.</a:t>
            </a:r>
          </a:p>
          <a:p>
            <a:r>
              <a:rPr lang="en-US" dirty="0"/>
              <a:t>Delete unwanted transactions.</a:t>
            </a:r>
          </a:p>
          <a:p>
            <a:r>
              <a:rPr lang="en-US" dirty="0"/>
              <a:t>Automatic balance calculation.</a:t>
            </a:r>
          </a:p>
          <a:p>
            <a:r>
              <a:rPr lang="en-US" dirty="0"/>
              <a:t>RESTful API-based backend architecture.</a:t>
            </a:r>
          </a:p>
          <a:p>
            <a:endParaRPr lang="en-US" dirty="0"/>
          </a:p>
        </p:txBody>
      </p:sp>
    </p:spTree>
    <p:extLst>
      <p:ext uri="{BB962C8B-B14F-4D97-AF65-F5344CB8AC3E}">
        <p14:creationId xmlns:p14="http://schemas.microsoft.com/office/powerpoint/2010/main" val="4149382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1A23B-AFF0-91DB-BCFD-5B9C6A1B108D}"/>
              </a:ext>
            </a:extLst>
          </p:cNvPr>
          <p:cNvSpPr>
            <a:spLocks noGrp="1"/>
          </p:cNvSpPr>
          <p:nvPr>
            <p:ph type="title"/>
          </p:nvPr>
        </p:nvSpPr>
        <p:spPr/>
        <p:txBody>
          <a:bodyPr/>
          <a:lstStyle/>
          <a:p>
            <a:r>
              <a:rPr lang="en-US" dirty="0"/>
              <a:t>TECHNICAL FEATURES</a:t>
            </a:r>
          </a:p>
        </p:txBody>
      </p:sp>
      <p:sp>
        <p:nvSpPr>
          <p:cNvPr id="3" name="Content Placeholder 2">
            <a:extLst>
              <a:ext uri="{FF2B5EF4-FFF2-40B4-BE49-F238E27FC236}">
                <a16:creationId xmlns:a16="http://schemas.microsoft.com/office/drawing/2014/main" id="{C1834672-1722-003A-E1FA-D922B1B64CE8}"/>
              </a:ext>
            </a:extLst>
          </p:cNvPr>
          <p:cNvSpPr>
            <a:spLocks noGrp="1"/>
          </p:cNvSpPr>
          <p:nvPr>
            <p:ph idx="1"/>
          </p:nvPr>
        </p:nvSpPr>
        <p:spPr/>
        <p:txBody>
          <a:bodyPr/>
          <a:lstStyle/>
          <a:p>
            <a:r>
              <a:rPr lang="en-US" dirty="0"/>
              <a:t>Proper Login and Registration APIs.</a:t>
            </a:r>
          </a:p>
          <a:p>
            <a:r>
              <a:rPr lang="en-US" dirty="0"/>
              <a:t>Password hashing for security.</a:t>
            </a:r>
          </a:p>
          <a:p>
            <a:r>
              <a:rPr lang="en-US" dirty="0"/>
              <a:t>REST APIs using HTTP methods (GET, POST, PUT, DELETE).</a:t>
            </a:r>
          </a:p>
          <a:p>
            <a:r>
              <a:rPr lang="en-US" dirty="0"/>
              <a:t>Layered architecture (Controller, Service, Repository).</a:t>
            </a:r>
          </a:p>
          <a:p>
            <a:r>
              <a:rPr lang="en-US" dirty="0"/>
              <a:t>Input validation and exception handling.</a:t>
            </a:r>
          </a:p>
          <a:p>
            <a:r>
              <a:rPr lang="en-US" dirty="0"/>
              <a:t>Hibernate ORM for database interaction.</a:t>
            </a:r>
          </a:p>
          <a:p>
            <a:endParaRPr lang="en-US" dirty="0"/>
          </a:p>
        </p:txBody>
      </p:sp>
    </p:spTree>
    <p:extLst>
      <p:ext uri="{BB962C8B-B14F-4D97-AF65-F5344CB8AC3E}">
        <p14:creationId xmlns:p14="http://schemas.microsoft.com/office/powerpoint/2010/main" val="136030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7DE22-B780-1F1A-78E4-756A71D11A00}"/>
              </a:ext>
            </a:extLst>
          </p:cNvPr>
          <p:cNvSpPr>
            <a:spLocks noGrp="1"/>
          </p:cNvSpPr>
          <p:nvPr>
            <p:ph type="title"/>
          </p:nvPr>
        </p:nvSpPr>
        <p:spPr/>
        <p:txBody>
          <a:bodyPr/>
          <a:lstStyle/>
          <a:p>
            <a:r>
              <a:rPr lang="en-US" dirty="0"/>
              <a:t>TECHNOLOGIES AND TOOLS USED</a:t>
            </a:r>
          </a:p>
        </p:txBody>
      </p:sp>
      <p:sp>
        <p:nvSpPr>
          <p:cNvPr id="4" name="Rectangle 1">
            <a:extLst>
              <a:ext uri="{FF2B5EF4-FFF2-40B4-BE49-F238E27FC236}">
                <a16:creationId xmlns:a16="http://schemas.microsoft.com/office/drawing/2014/main" id="{732743A6-22B3-1FFD-1A97-49AFB516F84B}"/>
              </a:ext>
            </a:extLst>
          </p:cNvPr>
          <p:cNvSpPr>
            <a:spLocks noGrp="1" noChangeArrowheads="1"/>
          </p:cNvSpPr>
          <p:nvPr>
            <p:ph idx="1"/>
          </p:nvPr>
        </p:nvSpPr>
        <p:spPr bwMode="auto">
          <a:xfrm>
            <a:off x="838200" y="2091549"/>
            <a:ext cx="5880136"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Programming Language:</a:t>
            </a:r>
            <a:r>
              <a:rPr kumimoji="0" lang="en-US" altLang="en-US" b="0" i="0" u="none" strike="noStrike" cap="none" normalizeH="0" baseline="0" dirty="0">
                <a:ln>
                  <a:noFill/>
                </a:ln>
                <a:solidFill>
                  <a:schemeClr val="tx1"/>
                </a:solidFill>
                <a:effectLst/>
                <a:latin typeface="Arial" panose="020B0604020202020204" pitchFamily="34" charset="0"/>
              </a:rPr>
              <a:t> Java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Framework:</a:t>
            </a:r>
            <a:r>
              <a:rPr kumimoji="0" lang="en-US" altLang="en-US" b="0" i="0" u="none" strike="noStrike" cap="none" normalizeH="0" baseline="0" dirty="0">
                <a:ln>
                  <a:noFill/>
                </a:ln>
                <a:solidFill>
                  <a:schemeClr val="tx1"/>
                </a:solidFill>
                <a:effectLst/>
                <a:latin typeface="Arial" panose="020B0604020202020204" pitchFamily="34" charset="0"/>
              </a:rPr>
              <a:t> Spring Boot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ORM:</a:t>
            </a:r>
            <a:r>
              <a:rPr kumimoji="0" lang="en-US" altLang="en-US" b="0" i="0" u="none" strike="noStrike" cap="none" normalizeH="0" baseline="0" dirty="0">
                <a:ln>
                  <a:noFill/>
                </a:ln>
                <a:solidFill>
                  <a:schemeClr val="tx1"/>
                </a:solidFill>
                <a:effectLst/>
                <a:latin typeface="Arial" panose="020B0604020202020204" pitchFamily="34" charset="0"/>
              </a:rPr>
              <a:t> Hibernate / JPA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Database:</a:t>
            </a:r>
            <a:r>
              <a:rPr kumimoji="0" lang="en-US" altLang="en-US" b="0" i="0" u="none" strike="noStrike" cap="none" normalizeH="0" baseline="0" dirty="0">
                <a:ln>
                  <a:noFill/>
                </a:ln>
                <a:solidFill>
                  <a:schemeClr val="tx1"/>
                </a:solidFill>
                <a:effectLst/>
                <a:latin typeface="Arial" panose="020B0604020202020204" pitchFamily="34" charset="0"/>
              </a:rPr>
              <a:t> MySQL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Build Tool:</a:t>
            </a:r>
            <a:r>
              <a:rPr kumimoji="0" lang="en-US" altLang="en-US" b="0" i="0" u="none" strike="noStrike" cap="none" normalizeH="0" baseline="0" dirty="0">
                <a:ln>
                  <a:noFill/>
                </a:ln>
                <a:solidFill>
                  <a:schemeClr val="tx1"/>
                </a:solidFill>
                <a:effectLst/>
                <a:latin typeface="Arial" panose="020B0604020202020204" pitchFamily="34" charset="0"/>
              </a:rPr>
              <a:t> Maven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IDE:</a:t>
            </a:r>
            <a:r>
              <a:rPr kumimoji="0" lang="en-US" altLang="en-US" b="0" i="0" u="none" strike="noStrike" cap="none" normalizeH="0" baseline="0" dirty="0">
                <a:ln>
                  <a:noFill/>
                </a:ln>
                <a:solidFill>
                  <a:schemeClr val="tx1"/>
                </a:solidFill>
                <a:effectLst/>
                <a:latin typeface="Arial" panose="020B0604020202020204" pitchFamily="34" charset="0"/>
              </a:rPr>
              <a:t> Spring Tool Suite (STS)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Web Server:</a:t>
            </a:r>
            <a:r>
              <a:rPr kumimoji="0" lang="en-US" altLang="en-US" b="0" i="0" u="none" strike="noStrike" cap="none" normalizeH="0" baseline="0" dirty="0">
                <a:ln>
                  <a:noFill/>
                </a:ln>
                <a:solidFill>
                  <a:schemeClr val="tx1"/>
                </a:solidFill>
                <a:effectLst/>
                <a:latin typeface="Arial" panose="020B0604020202020204" pitchFamily="34" charset="0"/>
              </a:rPr>
              <a:t> Apache Tomcat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Frontend:</a:t>
            </a:r>
            <a:r>
              <a:rPr kumimoji="0" lang="en-US" altLang="en-US" b="0" i="0" u="none" strike="noStrike" cap="none" normalizeH="0" baseline="0" dirty="0">
                <a:ln>
                  <a:noFill/>
                </a:ln>
                <a:solidFill>
                  <a:schemeClr val="tx1"/>
                </a:solidFill>
                <a:effectLst/>
                <a:latin typeface="Arial" panose="020B0604020202020204" pitchFamily="34" charset="0"/>
              </a:rPr>
              <a:t> HTML, CSS, JavaScript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API Testing Tool:</a:t>
            </a:r>
            <a:r>
              <a:rPr kumimoji="0" lang="en-US" altLang="en-US" b="0" i="0" u="none" strike="noStrike" cap="none" normalizeH="0" baseline="0" dirty="0">
                <a:ln>
                  <a:noFill/>
                </a:ln>
                <a:solidFill>
                  <a:schemeClr val="tx1"/>
                </a:solidFill>
                <a:effectLst/>
                <a:latin typeface="Arial" panose="020B0604020202020204" pitchFamily="34" charset="0"/>
              </a:rPr>
              <a:t> Postman</a:t>
            </a:r>
          </a:p>
        </p:txBody>
      </p:sp>
    </p:spTree>
    <p:extLst>
      <p:ext uri="{BB962C8B-B14F-4D97-AF65-F5344CB8AC3E}">
        <p14:creationId xmlns:p14="http://schemas.microsoft.com/office/powerpoint/2010/main" val="2788238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E8A4-AB36-2800-4DC9-18584A16ADC4}"/>
              </a:ext>
            </a:extLst>
          </p:cNvPr>
          <p:cNvSpPr>
            <a:spLocks noGrp="1"/>
          </p:cNvSpPr>
          <p:nvPr>
            <p:ph type="title"/>
          </p:nvPr>
        </p:nvSpPr>
        <p:spPr/>
        <p:txBody>
          <a:bodyPr/>
          <a:lstStyle/>
          <a:p>
            <a:r>
              <a:rPr lang="en-US" dirty="0"/>
              <a:t>SYSTEM REQUIREMENTS</a:t>
            </a:r>
          </a:p>
        </p:txBody>
      </p:sp>
      <p:sp>
        <p:nvSpPr>
          <p:cNvPr id="3" name="Content Placeholder 2">
            <a:extLst>
              <a:ext uri="{FF2B5EF4-FFF2-40B4-BE49-F238E27FC236}">
                <a16:creationId xmlns:a16="http://schemas.microsoft.com/office/drawing/2014/main" id="{FB224722-C16D-7146-0B1D-FACD7185DCBE}"/>
              </a:ext>
            </a:extLst>
          </p:cNvPr>
          <p:cNvSpPr>
            <a:spLocks noGrp="1"/>
          </p:cNvSpPr>
          <p:nvPr>
            <p:ph idx="1"/>
          </p:nvPr>
        </p:nvSpPr>
        <p:spPr/>
        <p:txBody>
          <a:bodyPr>
            <a:normAutofit fontScale="92500" lnSpcReduction="20000"/>
          </a:bodyPr>
          <a:lstStyle/>
          <a:p>
            <a:r>
              <a:rPr lang="en-US" b="1" dirty="0"/>
              <a:t>Software Requirements</a:t>
            </a:r>
          </a:p>
          <a:p>
            <a:r>
              <a:rPr lang="en-US" dirty="0"/>
              <a:t>Backend: Spring Boot, JPA, Hibernate</a:t>
            </a:r>
          </a:p>
          <a:p>
            <a:r>
              <a:rPr lang="en-US" dirty="0"/>
              <a:t>Database Server: MySQL Server 8.0</a:t>
            </a:r>
          </a:p>
          <a:p>
            <a:r>
              <a:rPr lang="en-US" dirty="0"/>
              <a:t>Web Server: Apache Tomcat</a:t>
            </a:r>
          </a:p>
          <a:p>
            <a:r>
              <a:rPr lang="en-US" dirty="0"/>
              <a:t>IDE: Spring Tool Suite (STS)</a:t>
            </a:r>
          </a:p>
          <a:p>
            <a:r>
              <a:rPr lang="en-US" dirty="0"/>
              <a:t>Browser: Google Chrome</a:t>
            </a:r>
          </a:p>
          <a:p>
            <a:r>
              <a:rPr lang="en-US" b="1" dirty="0"/>
              <a:t>Hardware Requirements</a:t>
            </a:r>
          </a:p>
          <a:p>
            <a:r>
              <a:rPr lang="en-US" dirty="0"/>
              <a:t>Processor: Intel i3 or above</a:t>
            </a:r>
          </a:p>
          <a:p>
            <a:r>
              <a:rPr lang="en-US" dirty="0"/>
              <a:t>RAM: Minimum 4 GB</a:t>
            </a:r>
          </a:p>
          <a:p>
            <a:r>
              <a:rPr lang="en-US" dirty="0"/>
              <a:t>Storage: Minimum 20 GB free space</a:t>
            </a:r>
          </a:p>
          <a:p>
            <a:endParaRPr lang="en-US" dirty="0"/>
          </a:p>
        </p:txBody>
      </p:sp>
    </p:spTree>
    <p:extLst>
      <p:ext uri="{BB962C8B-B14F-4D97-AF65-F5344CB8AC3E}">
        <p14:creationId xmlns:p14="http://schemas.microsoft.com/office/powerpoint/2010/main" val="3798321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01B9F-92C4-80C6-CA96-26E77A611A3C}"/>
              </a:ext>
            </a:extLst>
          </p:cNvPr>
          <p:cNvSpPr>
            <a:spLocks noGrp="1"/>
          </p:cNvSpPr>
          <p:nvPr>
            <p:ph type="title"/>
          </p:nvPr>
        </p:nvSpPr>
        <p:spPr/>
        <p:txBody>
          <a:bodyPr/>
          <a:lstStyle/>
          <a:p>
            <a:r>
              <a:rPr lang="en-US" dirty="0"/>
              <a:t>PROJECT MODULES</a:t>
            </a:r>
          </a:p>
        </p:txBody>
      </p:sp>
      <p:sp>
        <p:nvSpPr>
          <p:cNvPr id="4" name="Rectangle 1">
            <a:extLst>
              <a:ext uri="{FF2B5EF4-FFF2-40B4-BE49-F238E27FC236}">
                <a16:creationId xmlns:a16="http://schemas.microsoft.com/office/drawing/2014/main" id="{9DDC666E-4C86-4F7B-8878-C347E74529BB}"/>
              </a:ext>
            </a:extLst>
          </p:cNvPr>
          <p:cNvSpPr>
            <a:spLocks noGrp="1" noChangeArrowheads="1"/>
          </p:cNvSpPr>
          <p:nvPr>
            <p:ph idx="1"/>
          </p:nvPr>
        </p:nvSpPr>
        <p:spPr bwMode="auto">
          <a:xfrm>
            <a:off x="838200" y="2090171"/>
            <a:ext cx="5263429" cy="1292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Arial" panose="020B0604020202020204" pitchFamily="34" charset="0"/>
              </a:rPr>
              <a:t>User Authentication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Arial" panose="020B0604020202020204" pitchFamily="34" charset="0"/>
              </a:rPr>
              <a:t>Transaction Management Module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600" i="0" u="none" strike="noStrike" cap="none" normalizeH="0" baseline="0" dirty="0">
                <a:ln>
                  <a:noFill/>
                </a:ln>
                <a:solidFill>
                  <a:schemeClr val="tx1"/>
                </a:solidFill>
                <a:effectLst/>
                <a:latin typeface="Arial" panose="020B0604020202020204" pitchFamily="34" charset="0"/>
              </a:rPr>
              <a:t>Balance Calculation Module</a:t>
            </a:r>
          </a:p>
        </p:txBody>
      </p:sp>
    </p:spTree>
    <p:extLst>
      <p:ext uri="{BB962C8B-B14F-4D97-AF65-F5344CB8AC3E}">
        <p14:creationId xmlns:p14="http://schemas.microsoft.com/office/powerpoint/2010/main" val="1607473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263B8-704C-BF2C-517E-C17F66390477}"/>
              </a:ext>
            </a:extLst>
          </p:cNvPr>
          <p:cNvSpPr>
            <a:spLocks noGrp="1"/>
          </p:cNvSpPr>
          <p:nvPr>
            <p:ph type="title"/>
          </p:nvPr>
        </p:nvSpPr>
        <p:spPr>
          <a:xfrm>
            <a:off x="838200" y="-96789"/>
            <a:ext cx="10515600" cy="1325563"/>
          </a:xfrm>
        </p:spPr>
        <p:txBody>
          <a:bodyPr/>
          <a:lstStyle/>
          <a:p>
            <a:r>
              <a:rPr lang="en-US" dirty="0"/>
              <a:t>ER DIAGRAM</a:t>
            </a:r>
          </a:p>
        </p:txBody>
      </p:sp>
      <p:pic>
        <p:nvPicPr>
          <p:cNvPr id="10" name="Content Placeholder 9">
            <a:extLst>
              <a:ext uri="{FF2B5EF4-FFF2-40B4-BE49-F238E27FC236}">
                <a16:creationId xmlns:a16="http://schemas.microsoft.com/office/drawing/2014/main" id="{35145D4E-908D-C3A5-89FE-69D695B4C1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2240" y="782424"/>
            <a:ext cx="8163612" cy="6075576"/>
          </a:xfrm>
        </p:spPr>
      </p:pic>
    </p:spTree>
    <p:extLst>
      <p:ext uri="{BB962C8B-B14F-4D97-AF65-F5344CB8AC3E}">
        <p14:creationId xmlns:p14="http://schemas.microsoft.com/office/powerpoint/2010/main" val="2188588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145C9-BD34-2BA2-F211-AAF1BF274581}"/>
              </a:ext>
            </a:extLst>
          </p:cNvPr>
          <p:cNvSpPr>
            <a:spLocks noGrp="1"/>
          </p:cNvSpPr>
          <p:nvPr>
            <p:ph type="title"/>
          </p:nvPr>
        </p:nvSpPr>
        <p:spPr/>
        <p:txBody>
          <a:bodyPr/>
          <a:lstStyle/>
          <a:p>
            <a:r>
              <a:rPr lang="en-US" dirty="0"/>
              <a:t>SYSTEM ARCHITECTURE</a:t>
            </a:r>
          </a:p>
        </p:txBody>
      </p:sp>
      <p:sp>
        <p:nvSpPr>
          <p:cNvPr id="3" name="Content Placeholder 2">
            <a:extLst>
              <a:ext uri="{FF2B5EF4-FFF2-40B4-BE49-F238E27FC236}">
                <a16:creationId xmlns:a16="http://schemas.microsoft.com/office/drawing/2014/main" id="{4CA9C2A0-1D20-18B1-28E7-D03D65CAC68E}"/>
              </a:ext>
            </a:extLst>
          </p:cNvPr>
          <p:cNvSpPr>
            <a:spLocks noGrp="1"/>
          </p:cNvSpPr>
          <p:nvPr>
            <p:ph idx="1"/>
          </p:nvPr>
        </p:nvSpPr>
        <p:spPr/>
        <p:txBody>
          <a:bodyPr/>
          <a:lstStyle/>
          <a:p>
            <a:pPr marL="0" indent="0">
              <a:buNone/>
            </a:pPr>
            <a:r>
              <a:rPr lang="en-US" dirty="0"/>
              <a:t>The system follows a </a:t>
            </a:r>
            <a:r>
              <a:rPr lang="en-US" b="1" dirty="0"/>
              <a:t>Client–Server Architecture</a:t>
            </a:r>
            <a:r>
              <a:rPr lang="en-US" dirty="0"/>
              <a:t>:</a:t>
            </a:r>
          </a:p>
          <a:p>
            <a:r>
              <a:rPr lang="en-US" dirty="0"/>
              <a:t>Frontend acts as the client.</a:t>
            </a:r>
          </a:p>
          <a:p>
            <a:r>
              <a:rPr lang="en-US" dirty="0"/>
              <a:t>Backend Spring Boot application acts as the server.</a:t>
            </a:r>
          </a:p>
          <a:p>
            <a:r>
              <a:rPr lang="en-US" dirty="0"/>
              <a:t>REST APIs handle communication between client and server.</a:t>
            </a:r>
          </a:p>
          <a:p>
            <a:r>
              <a:rPr lang="en-US" dirty="0"/>
              <a:t>MySQL database stores all user and transaction data.</a:t>
            </a:r>
          </a:p>
          <a:p>
            <a:r>
              <a:rPr lang="en-US" dirty="0"/>
              <a:t>Data is exchanged using JSON format.</a:t>
            </a:r>
          </a:p>
          <a:p>
            <a:endParaRPr lang="en-US" dirty="0"/>
          </a:p>
        </p:txBody>
      </p:sp>
    </p:spTree>
    <p:extLst>
      <p:ext uri="{BB962C8B-B14F-4D97-AF65-F5344CB8AC3E}">
        <p14:creationId xmlns:p14="http://schemas.microsoft.com/office/powerpoint/2010/main" val="3948624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C92E2-C2FE-5EA8-2ED9-666E45A08A0C}"/>
              </a:ext>
            </a:extLst>
          </p:cNvPr>
          <p:cNvSpPr>
            <a:spLocks noGrp="1"/>
          </p:cNvSpPr>
          <p:nvPr>
            <p:ph type="title"/>
          </p:nvPr>
        </p:nvSpPr>
        <p:spPr>
          <a:xfrm>
            <a:off x="753359" y="18255"/>
            <a:ext cx="10515600" cy="1325563"/>
          </a:xfrm>
        </p:spPr>
        <p:txBody>
          <a:bodyPr/>
          <a:lstStyle/>
          <a:p>
            <a:r>
              <a:rPr lang="en-US" dirty="0"/>
              <a:t>Client - Server Architecture</a:t>
            </a:r>
          </a:p>
        </p:txBody>
      </p:sp>
      <p:pic>
        <p:nvPicPr>
          <p:cNvPr id="5" name="Content Placeholder 4">
            <a:extLst>
              <a:ext uri="{FF2B5EF4-FFF2-40B4-BE49-F238E27FC236}">
                <a16:creationId xmlns:a16="http://schemas.microsoft.com/office/drawing/2014/main" id="{FD458960-CCBB-9A40-989A-06CB1634B9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343818"/>
            <a:ext cx="10515600" cy="5273798"/>
          </a:xfrm>
        </p:spPr>
      </p:pic>
    </p:spTree>
    <p:extLst>
      <p:ext uri="{BB962C8B-B14F-4D97-AF65-F5344CB8AC3E}">
        <p14:creationId xmlns:p14="http://schemas.microsoft.com/office/powerpoint/2010/main" val="805533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0D49-29F0-DF77-4C09-983BF5853280}"/>
              </a:ext>
            </a:extLst>
          </p:cNvPr>
          <p:cNvSpPr>
            <a:spLocks noGrp="1"/>
          </p:cNvSpPr>
          <p:nvPr>
            <p:ph type="title"/>
          </p:nvPr>
        </p:nvSpPr>
        <p:spPr/>
        <p:txBody>
          <a:bodyPr/>
          <a:lstStyle/>
          <a:p>
            <a:r>
              <a:rPr lang="en-US" dirty="0"/>
              <a:t>USER AUTHENTICATION MODULE</a:t>
            </a:r>
          </a:p>
        </p:txBody>
      </p:sp>
      <p:sp>
        <p:nvSpPr>
          <p:cNvPr id="4" name="Rectangle 1">
            <a:extLst>
              <a:ext uri="{FF2B5EF4-FFF2-40B4-BE49-F238E27FC236}">
                <a16:creationId xmlns:a16="http://schemas.microsoft.com/office/drawing/2014/main" id="{2D2CEA4F-57AF-68C5-3C81-204898D3224C}"/>
              </a:ext>
            </a:extLst>
          </p:cNvPr>
          <p:cNvSpPr>
            <a:spLocks noGrp="1" noChangeArrowheads="1"/>
          </p:cNvSpPr>
          <p:nvPr>
            <p:ph idx="1"/>
          </p:nvPr>
        </p:nvSpPr>
        <p:spPr bwMode="auto">
          <a:xfrm>
            <a:off x="838200" y="1864560"/>
            <a:ext cx="905568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Allows users to register and log in securely.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Passwords are hashed before storing in the database.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rial" panose="020B0604020202020204" pitchFamily="34" charset="0"/>
              </a:rPr>
              <a:t>Ensures that only authenticated users can access financial data.</a:t>
            </a:r>
          </a:p>
        </p:txBody>
      </p:sp>
    </p:spTree>
    <p:extLst>
      <p:ext uri="{BB962C8B-B14F-4D97-AF65-F5344CB8AC3E}">
        <p14:creationId xmlns:p14="http://schemas.microsoft.com/office/powerpoint/2010/main" val="41900822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4B453-E5BC-651D-78AA-D27EA7A961BB}"/>
              </a:ext>
            </a:extLst>
          </p:cNvPr>
          <p:cNvSpPr>
            <a:spLocks noGrp="1"/>
          </p:cNvSpPr>
          <p:nvPr>
            <p:ph type="title"/>
          </p:nvPr>
        </p:nvSpPr>
        <p:spPr/>
        <p:txBody>
          <a:bodyPr/>
          <a:lstStyle/>
          <a:p>
            <a:r>
              <a:rPr lang="en-US" dirty="0"/>
              <a:t>TRANSACTION MANAGEMENT MODULE</a:t>
            </a:r>
          </a:p>
        </p:txBody>
      </p:sp>
      <p:sp>
        <p:nvSpPr>
          <p:cNvPr id="4" name="Rectangle 1">
            <a:extLst>
              <a:ext uri="{FF2B5EF4-FFF2-40B4-BE49-F238E27FC236}">
                <a16:creationId xmlns:a16="http://schemas.microsoft.com/office/drawing/2014/main" id="{293BB013-3D83-6D69-1FBA-FAB36455884D}"/>
              </a:ext>
            </a:extLst>
          </p:cNvPr>
          <p:cNvSpPr>
            <a:spLocks noGrp="1" noChangeArrowheads="1"/>
          </p:cNvSpPr>
          <p:nvPr>
            <p:ph idx="1"/>
          </p:nvPr>
        </p:nvSpPr>
        <p:spPr bwMode="auto">
          <a:xfrm>
            <a:off x="838200" y="1783590"/>
            <a:ext cx="1011007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Users can add income or expense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Each transaction includes amount, category, type, description, and date.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Users can view all transactions.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Users can delete transactions when required.</a:t>
            </a:r>
          </a:p>
        </p:txBody>
      </p:sp>
    </p:spTree>
    <p:extLst>
      <p:ext uri="{BB962C8B-B14F-4D97-AF65-F5344CB8AC3E}">
        <p14:creationId xmlns:p14="http://schemas.microsoft.com/office/powerpoint/2010/main" val="1677054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241E1-9AA0-9848-9388-659524138815}"/>
              </a:ext>
            </a:extLst>
          </p:cNvPr>
          <p:cNvSpPr>
            <a:spLocks noGrp="1"/>
          </p:cNvSpPr>
          <p:nvPr>
            <p:ph type="title"/>
          </p:nvPr>
        </p:nvSpPr>
        <p:spPr/>
        <p:txBody>
          <a:bodyPr/>
          <a:lstStyle/>
          <a:p>
            <a:r>
              <a:rPr lang="en-US" dirty="0"/>
              <a:t>HTTP REQUEST METHODS USED</a:t>
            </a:r>
          </a:p>
        </p:txBody>
      </p:sp>
      <p:graphicFrame>
        <p:nvGraphicFramePr>
          <p:cNvPr id="4" name="Content Placeholder 3">
            <a:extLst>
              <a:ext uri="{FF2B5EF4-FFF2-40B4-BE49-F238E27FC236}">
                <a16:creationId xmlns:a16="http://schemas.microsoft.com/office/drawing/2014/main" id="{B831F17F-C6A8-6474-EC49-E0B2C4DBE0AE}"/>
              </a:ext>
            </a:extLst>
          </p:cNvPr>
          <p:cNvGraphicFramePr>
            <a:graphicFrameLocks noGrp="1"/>
          </p:cNvGraphicFramePr>
          <p:nvPr>
            <p:ph idx="1"/>
            <p:extLst>
              <p:ext uri="{D42A27DB-BD31-4B8C-83A1-F6EECF244321}">
                <p14:modId xmlns:p14="http://schemas.microsoft.com/office/powerpoint/2010/main" val="2794744648"/>
              </p:ext>
            </p:extLst>
          </p:nvPr>
        </p:nvGraphicFramePr>
        <p:xfrm>
          <a:off x="838203" y="2014161"/>
          <a:ext cx="10515597" cy="3335719"/>
        </p:xfrm>
        <a:graphic>
          <a:graphicData uri="http://schemas.openxmlformats.org/drawingml/2006/table">
            <a:tbl>
              <a:tblPr bandRow="1">
                <a:tableStyleId>{5C22544A-7EE6-4342-B048-85BDC9FD1C3A}</a:tableStyleId>
              </a:tblPr>
              <a:tblGrid>
                <a:gridCol w="1782452">
                  <a:extLst>
                    <a:ext uri="{9D8B030D-6E8A-4147-A177-3AD203B41FA5}">
                      <a16:colId xmlns:a16="http://schemas.microsoft.com/office/drawing/2014/main" val="684406816"/>
                    </a:ext>
                  </a:extLst>
                </a:gridCol>
                <a:gridCol w="5227946">
                  <a:extLst>
                    <a:ext uri="{9D8B030D-6E8A-4147-A177-3AD203B41FA5}">
                      <a16:colId xmlns:a16="http://schemas.microsoft.com/office/drawing/2014/main" val="3759361546"/>
                    </a:ext>
                  </a:extLst>
                </a:gridCol>
                <a:gridCol w="3505199">
                  <a:extLst>
                    <a:ext uri="{9D8B030D-6E8A-4147-A177-3AD203B41FA5}">
                      <a16:colId xmlns:a16="http://schemas.microsoft.com/office/drawing/2014/main" val="2885386962"/>
                    </a:ext>
                  </a:extLst>
                </a:gridCol>
              </a:tblGrid>
              <a:tr h="905860">
                <a:tc>
                  <a:txBody>
                    <a:bodyPr/>
                    <a:lstStyle/>
                    <a:p>
                      <a:r>
                        <a:rPr lang="en-US" dirty="0"/>
                        <a:t>GET</a:t>
                      </a:r>
                    </a:p>
                  </a:txBody>
                  <a:tcPr/>
                </a:tc>
                <a:tc>
                  <a:txBody>
                    <a:bodyPr/>
                    <a:lstStyle/>
                    <a:p>
                      <a:r>
                        <a:rPr lang="en-US" dirty="0"/>
                        <a:t>http://localhost:8080/api/transactions</a:t>
                      </a:r>
                    </a:p>
                    <a:p>
                      <a:endParaRPr lang="en-US" dirty="0"/>
                    </a:p>
                  </a:txBody>
                  <a:tcPr/>
                </a:tc>
                <a:tc>
                  <a:txBody>
                    <a:bodyPr/>
                    <a:lstStyle/>
                    <a:p>
                      <a:r>
                        <a:rPr lang="en-US" dirty="0"/>
                        <a:t>Retrieve transactions and user details</a:t>
                      </a:r>
                    </a:p>
                  </a:txBody>
                  <a:tcPr/>
                </a:tc>
                <a:extLst>
                  <a:ext uri="{0D108BD9-81ED-4DB2-BD59-A6C34878D82A}">
                    <a16:rowId xmlns:a16="http://schemas.microsoft.com/office/drawing/2014/main" val="937728522"/>
                  </a:ext>
                </a:extLst>
              </a:tr>
              <a:tr h="696287">
                <a:tc>
                  <a:txBody>
                    <a:bodyPr/>
                    <a:lstStyle/>
                    <a:p>
                      <a:r>
                        <a:rPr lang="en-US" dirty="0"/>
                        <a:t>POST</a:t>
                      </a:r>
                    </a:p>
                  </a:txBody>
                  <a:tcPr/>
                </a:tc>
                <a:tc>
                  <a:txBody>
                    <a:bodyPr/>
                    <a:lstStyle/>
                    <a:p>
                      <a:r>
                        <a:rPr lang="nn-NO" dirty="0"/>
                        <a:t>http://localhost:8080/api/auth/register</a:t>
                      </a:r>
                    </a:p>
                    <a:p>
                      <a:endParaRPr lang="en-US" dirty="0"/>
                    </a:p>
                  </a:txBody>
                  <a:tcPr/>
                </a:tc>
                <a:tc>
                  <a:txBody>
                    <a:bodyPr/>
                    <a:lstStyle/>
                    <a:p>
                      <a:r>
                        <a:rPr lang="en-US" dirty="0"/>
                        <a:t>Add new users and transactions</a:t>
                      </a:r>
                    </a:p>
                  </a:txBody>
                  <a:tcPr/>
                </a:tc>
                <a:extLst>
                  <a:ext uri="{0D108BD9-81ED-4DB2-BD59-A6C34878D82A}">
                    <a16:rowId xmlns:a16="http://schemas.microsoft.com/office/drawing/2014/main" val="572104704"/>
                  </a:ext>
                </a:extLst>
              </a:tr>
              <a:tr h="738876">
                <a:tc>
                  <a:txBody>
                    <a:bodyPr/>
                    <a:lstStyle/>
                    <a:p>
                      <a:r>
                        <a:rPr lang="en-US" dirty="0"/>
                        <a:t>PUT</a:t>
                      </a:r>
                    </a:p>
                  </a:txBody>
                  <a:tcPr/>
                </a:tc>
                <a:tc>
                  <a:txBody>
                    <a:bodyPr/>
                    <a:lstStyle/>
                    <a:p>
                      <a:r>
                        <a:rPr lang="en-US" dirty="0"/>
                        <a:t>http://localhost:8080/api/users/update</a:t>
                      </a:r>
                    </a:p>
                    <a:p>
                      <a:endParaRPr lang="en-US" dirty="0"/>
                    </a:p>
                  </a:txBody>
                  <a:tcPr/>
                </a:tc>
                <a:tc>
                  <a:txBody>
                    <a:bodyPr/>
                    <a:lstStyle/>
                    <a:p>
                      <a:r>
                        <a:rPr lang="en-US" dirty="0"/>
                        <a:t>Update existing data (if required)</a:t>
                      </a:r>
                    </a:p>
                  </a:txBody>
                  <a:tcPr/>
                </a:tc>
                <a:extLst>
                  <a:ext uri="{0D108BD9-81ED-4DB2-BD59-A6C34878D82A}">
                    <a16:rowId xmlns:a16="http://schemas.microsoft.com/office/drawing/2014/main" val="1853168601"/>
                  </a:ext>
                </a:extLst>
              </a:tr>
              <a:tr h="994696">
                <a:tc>
                  <a:txBody>
                    <a:bodyPr/>
                    <a:lstStyle/>
                    <a:p>
                      <a:r>
                        <a:rPr lang="en-US" dirty="0"/>
                        <a:t>DELETE</a:t>
                      </a:r>
                    </a:p>
                  </a:txBody>
                  <a:tcPr/>
                </a:tc>
                <a:tc>
                  <a:txBody>
                    <a:bodyPr/>
                    <a:lstStyle/>
                    <a:p>
                      <a:r>
                        <a:rPr lang="en-US" dirty="0"/>
                        <a:t>http://localhost:8080/api/transactions/{transactionId}</a:t>
                      </a:r>
                    </a:p>
                    <a:p>
                      <a:endParaRPr lang="en-US" dirty="0"/>
                    </a:p>
                  </a:txBody>
                  <a:tcPr/>
                </a:tc>
                <a:tc>
                  <a:txBody>
                    <a:bodyPr/>
                    <a:lstStyle/>
                    <a:p>
                      <a:r>
                        <a:rPr lang="en-US" dirty="0"/>
                        <a:t>Delete transactions</a:t>
                      </a:r>
                    </a:p>
                  </a:txBody>
                  <a:tcPr/>
                </a:tc>
                <a:extLst>
                  <a:ext uri="{0D108BD9-81ED-4DB2-BD59-A6C34878D82A}">
                    <a16:rowId xmlns:a16="http://schemas.microsoft.com/office/drawing/2014/main" val="3864601974"/>
                  </a:ext>
                </a:extLst>
              </a:tr>
            </a:tbl>
          </a:graphicData>
        </a:graphic>
      </p:graphicFrame>
    </p:spTree>
    <p:extLst>
      <p:ext uri="{BB962C8B-B14F-4D97-AF65-F5344CB8AC3E}">
        <p14:creationId xmlns:p14="http://schemas.microsoft.com/office/powerpoint/2010/main" val="1225589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E6EAA-0E53-BD94-889C-4D751DE056C7}"/>
              </a:ext>
            </a:extLst>
          </p:cNvPr>
          <p:cNvSpPr>
            <a:spLocks noGrp="1"/>
          </p:cNvSpPr>
          <p:nvPr>
            <p:ph type="title"/>
          </p:nvPr>
        </p:nvSpPr>
        <p:spPr>
          <a:xfrm>
            <a:off x="838200" y="365125"/>
            <a:ext cx="10515600" cy="5811838"/>
          </a:xfrm>
        </p:spPr>
        <p:txBody>
          <a:bodyPr/>
          <a:lstStyle/>
          <a:p>
            <a:r>
              <a:rPr lang="en-US" b="1" dirty="0"/>
              <a:t>                         DATA DICTIONARY</a:t>
            </a:r>
          </a:p>
        </p:txBody>
      </p:sp>
    </p:spTree>
    <p:extLst>
      <p:ext uri="{BB962C8B-B14F-4D97-AF65-F5344CB8AC3E}">
        <p14:creationId xmlns:p14="http://schemas.microsoft.com/office/powerpoint/2010/main" val="1437205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AD87-A700-4198-079C-1BE119E9A819}"/>
              </a:ext>
            </a:extLst>
          </p:cNvPr>
          <p:cNvSpPr>
            <a:spLocks noGrp="1"/>
          </p:cNvSpPr>
          <p:nvPr>
            <p:ph type="title"/>
          </p:nvPr>
        </p:nvSpPr>
        <p:spPr/>
        <p:txBody>
          <a:bodyPr/>
          <a:lstStyle/>
          <a:p>
            <a:r>
              <a:rPr lang="en-US" dirty="0"/>
              <a:t>TABLES OF DATABASE</a:t>
            </a:r>
          </a:p>
        </p:txBody>
      </p:sp>
      <p:sp>
        <p:nvSpPr>
          <p:cNvPr id="3" name="Content Placeholder 2">
            <a:extLst>
              <a:ext uri="{FF2B5EF4-FFF2-40B4-BE49-F238E27FC236}">
                <a16:creationId xmlns:a16="http://schemas.microsoft.com/office/drawing/2014/main" id="{E3CF448B-0F76-B0F2-1B16-2566CC4458A1}"/>
              </a:ext>
            </a:extLst>
          </p:cNvPr>
          <p:cNvSpPr>
            <a:spLocks noGrp="1"/>
          </p:cNvSpPr>
          <p:nvPr>
            <p:ph idx="1"/>
          </p:nvPr>
        </p:nvSpPr>
        <p:spPr/>
        <p:txBody>
          <a:bodyPr/>
          <a:lstStyle/>
          <a:p>
            <a:pPr marL="0" indent="0">
              <a:buNone/>
            </a:pPr>
            <a:r>
              <a:rPr lang="en-US" dirty="0"/>
              <a:t>The database contains the following tables:</a:t>
            </a:r>
          </a:p>
          <a:p>
            <a:r>
              <a:rPr lang="en-US" b="1" dirty="0"/>
              <a:t>User Table</a:t>
            </a:r>
            <a:r>
              <a:rPr lang="en-US" dirty="0"/>
              <a:t> – Stores user authentication details.</a:t>
            </a:r>
          </a:p>
          <a:p>
            <a:r>
              <a:rPr lang="en-US" b="1" dirty="0"/>
              <a:t>Transaction Table</a:t>
            </a:r>
            <a:r>
              <a:rPr lang="en-US" dirty="0"/>
              <a:t> – Stores income and expense records linked to users.</a:t>
            </a:r>
          </a:p>
          <a:p>
            <a:pPr marL="0" indent="0">
              <a:buNone/>
            </a:pPr>
            <a:r>
              <a:rPr lang="en-US" dirty="0"/>
              <a:t>Each transaction is associated with a specific user to ensure data privacy.</a:t>
            </a:r>
          </a:p>
          <a:p>
            <a:endParaRPr lang="en-US" dirty="0"/>
          </a:p>
        </p:txBody>
      </p:sp>
    </p:spTree>
    <p:extLst>
      <p:ext uri="{BB962C8B-B14F-4D97-AF65-F5344CB8AC3E}">
        <p14:creationId xmlns:p14="http://schemas.microsoft.com/office/powerpoint/2010/main" val="2251874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9D5C8-E9DD-582F-A1E6-3F1D4019C851}"/>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5E6C0744-BFD9-E8D3-7770-8929C6E2AD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365125"/>
            <a:ext cx="10515599" cy="5811838"/>
          </a:xfrm>
        </p:spPr>
      </p:pic>
    </p:spTree>
    <p:extLst>
      <p:ext uri="{BB962C8B-B14F-4D97-AF65-F5344CB8AC3E}">
        <p14:creationId xmlns:p14="http://schemas.microsoft.com/office/powerpoint/2010/main" val="16106455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9D5F-273B-EF8D-8C24-4466DFCBEEB5}"/>
              </a:ext>
            </a:extLst>
          </p:cNvPr>
          <p:cNvSpPr>
            <a:spLocks noGrp="1"/>
          </p:cNvSpPr>
          <p:nvPr>
            <p:ph type="title"/>
          </p:nvPr>
        </p:nvSpPr>
        <p:spPr>
          <a:xfrm>
            <a:off x="838200" y="18255"/>
            <a:ext cx="10515600" cy="1325563"/>
          </a:xfrm>
        </p:spPr>
        <p:txBody>
          <a:bodyPr/>
          <a:lstStyle/>
          <a:p>
            <a:r>
              <a:rPr lang="en-US" dirty="0"/>
              <a:t>USER CREDENTIALS</a:t>
            </a:r>
          </a:p>
        </p:txBody>
      </p:sp>
      <p:pic>
        <p:nvPicPr>
          <p:cNvPr id="5" name="Content Placeholder 4">
            <a:extLst>
              <a:ext uri="{FF2B5EF4-FFF2-40B4-BE49-F238E27FC236}">
                <a16:creationId xmlns:a16="http://schemas.microsoft.com/office/drawing/2014/main" id="{914BFA84-07EB-A459-2F83-AB16B1DCBA3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1790" y="1343818"/>
            <a:ext cx="9869864" cy="5019275"/>
          </a:xfrm>
        </p:spPr>
      </p:pic>
    </p:spTree>
    <p:extLst>
      <p:ext uri="{BB962C8B-B14F-4D97-AF65-F5344CB8AC3E}">
        <p14:creationId xmlns:p14="http://schemas.microsoft.com/office/powerpoint/2010/main" val="427182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D5389-D49B-64B9-AD70-6300BFBB4AC0}"/>
              </a:ext>
            </a:extLst>
          </p:cNvPr>
          <p:cNvSpPr>
            <a:spLocks noGrp="1"/>
          </p:cNvSpPr>
          <p:nvPr>
            <p:ph type="title"/>
          </p:nvPr>
        </p:nvSpPr>
        <p:spPr>
          <a:xfrm>
            <a:off x="838199" y="18255"/>
            <a:ext cx="10515600" cy="1325563"/>
          </a:xfrm>
        </p:spPr>
        <p:txBody>
          <a:bodyPr/>
          <a:lstStyle/>
          <a:p>
            <a:r>
              <a:rPr lang="en-US" dirty="0"/>
              <a:t>TRANSACTIONS</a:t>
            </a:r>
          </a:p>
        </p:txBody>
      </p:sp>
      <p:pic>
        <p:nvPicPr>
          <p:cNvPr id="5" name="Content Placeholder 4">
            <a:extLst>
              <a:ext uri="{FF2B5EF4-FFF2-40B4-BE49-F238E27FC236}">
                <a16:creationId xmlns:a16="http://schemas.microsoft.com/office/drawing/2014/main" id="{E4F4577F-84AC-FBCA-A4FB-DEA90ADC48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3509" y="1244338"/>
            <a:ext cx="10058400" cy="5137608"/>
          </a:xfrm>
        </p:spPr>
      </p:pic>
    </p:spTree>
    <p:extLst>
      <p:ext uri="{BB962C8B-B14F-4D97-AF65-F5344CB8AC3E}">
        <p14:creationId xmlns:p14="http://schemas.microsoft.com/office/powerpoint/2010/main" val="1695739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DDE31-3042-7B93-AC64-4366E699139F}"/>
              </a:ext>
            </a:extLst>
          </p:cNvPr>
          <p:cNvSpPr>
            <a:spLocks noGrp="1"/>
          </p:cNvSpPr>
          <p:nvPr>
            <p:ph type="title"/>
          </p:nvPr>
        </p:nvSpPr>
        <p:spPr>
          <a:xfrm>
            <a:off x="838200" y="0"/>
            <a:ext cx="10515600" cy="1325563"/>
          </a:xfrm>
        </p:spPr>
        <p:txBody>
          <a:bodyPr/>
          <a:lstStyle/>
          <a:p>
            <a:r>
              <a:rPr lang="en-US" dirty="0"/>
              <a:t>POST METHOD FOR LOGIN</a:t>
            </a:r>
          </a:p>
        </p:txBody>
      </p:sp>
      <p:pic>
        <p:nvPicPr>
          <p:cNvPr id="5" name="Content Placeholder 4">
            <a:extLst>
              <a:ext uri="{FF2B5EF4-FFF2-40B4-BE49-F238E27FC236}">
                <a16:creationId xmlns:a16="http://schemas.microsoft.com/office/drawing/2014/main" id="{204BE7C2-2BD6-2158-D762-8501CE9221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0388" y="1225484"/>
            <a:ext cx="10011265" cy="5363852"/>
          </a:xfrm>
        </p:spPr>
      </p:pic>
    </p:spTree>
    <p:extLst>
      <p:ext uri="{BB962C8B-B14F-4D97-AF65-F5344CB8AC3E}">
        <p14:creationId xmlns:p14="http://schemas.microsoft.com/office/powerpoint/2010/main" val="3744104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C2F62-D7BB-5CEF-61CE-3D0CA4C70F45}"/>
              </a:ext>
            </a:extLst>
          </p:cNvPr>
          <p:cNvSpPr>
            <a:spLocks noGrp="1"/>
          </p:cNvSpPr>
          <p:nvPr>
            <p:ph type="title"/>
          </p:nvPr>
        </p:nvSpPr>
        <p:spPr>
          <a:xfrm>
            <a:off x="838200" y="18255"/>
            <a:ext cx="10515600" cy="1325563"/>
          </a:xfrm>
        </p:spPr>
        <p:txBody>
          <a:bodyPr/>
          <a:lstStyle/>
          <a:p>
            <a:r>
              <a:rPr lang="en-US" dirty="0"/>
              <a:t>POST METHOD FOR TRANSACTIONS</a:t>
            </a:r>
          </a:p>
        </p:txBody>
      </p:sp>
      <p:pic>
        <p:nvPicPr>
          <p:cNvPr id="5" name="Content Placeholder 4">
            <a:extLst>
              <a:ext uri="{FF2B5EF4-FFF2-40B4-BE49-F238E27FC236}">
                <a16:creationId xmlns:a16="http://schemas.microsoft.com/office/drawing/2014/main" id="{8AB850CD-F5BF-5CA1-A7D1-CF36370A5F2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1" y="1178351"/>
            <a:ext cx="10379696" cy="5420411"/>
          </a:xfrm>
        </p:spPr>
      </p:pic>
    </p:spTree>
    <p:extLst>
      <p:ext uri="{BB962C8B-B14F-4D97-AF65-F5344CB8AC3E}">
        <p14:creationId xmlns:p14="http://schemas.microsoft.com/office/powerpoint/2010/main" val="2373995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90796-5113-03A0-F7FA-8402FD8E5D4C}"/>
              </a:ext>
            </a:extLst>
          </p:cNvPr>
          <p:cNvSpPr>
            <a:spLocks noGrp="1"/>
          </p:cNvSpPr>
          <p:nvPr>
            <p:ph type="title"/>
          </p:nvPr>
        </p:nvSpPr>
        <p:spPr>
          <a:xfrm>
            <a:off x="838200" y="18255"/>
            <a:ext cx="10515600" cy="1325563"/>
          </a:xfrm>
        </p:spPr>
        <p:txBody>
          <a:bodyPr/>
          <a:lstStyle/>
          <a:p>
            <a:r>
              <a:rPr lang="en-US" dirty="0"/>
              <a:t>GET METHOD FOR TRANSACTIONS</a:t>
            </a:r>
          </a:p>
        </p:txBody>
      </p:sp>
      <p:pic>
        <p:nvPicPr>
          <p:cNvPr id="5" name="Content Placeholder 4">
            <a:extLst>
              <a:ext uri="{FF2B5EF4-FFF2-40B4-BE49-F238E27FC236}">
                <a16:creationId xmlns:a16="http://schemas.microsoft.com/office/drawing/2014/main" id="{32DF6B61-4A6D-1A8A-A4E9-C4BBCA71CA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178352"/>
            <a:ext cx="10515599" cy="5392130"/>
          </a:xfrm>
        </p:spPr>
      </p:pic>
    </p:spTree>
    <p:extLst>
      <p:ext uri="{BB962C8B-B14F-4D97-AF65-F5344CB8AC3E}">
        <p14:creationId xmlns:p14="http://schemas.microsoft.com/office/powerpoint/2010/main" val="2872156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AD7482-9339-544F-7BC9-B9D25BFD69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121790"/>
            <a:ext cx="10515600" cy="5448692"/>
          </a:xfrm>
        </p:spPr>
      </p:pic>
    </p:spTree>
    <p:extLst>
      <p:ext uri="{BB962C8B-B14F-4D97-AF65-F5344CB8AC3E}">
        <p14:creationId xmlns:p14="http://schemas.microsoft.com/office/powerpoint/2010/main" val="3990335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21F18-D636-B1FA-79D3-CD4C883A3116}"/>
              </a:ext>
            </a:extLst>
          </p:cNvPr>
          <p:cNvSpPr>
            <a:spLocks noGrp="1"/>
          </p:cNvSpPr>
          <p:nvPr>
            <p:ph type="title"/>
          </p:nvPr>
        </p:nvSpPr>
        <p:spPr>
          <a:xfrm>
            <a:off x="838199" y="0"/>
            <a:ext cx="10515600" cy="1325563"/>
          </a:xfrm>
        </p:spPr>
        <p:txBody>
          <a:bodyPr/>
          <a:lstStyle/>
          <a:p>
            <a:r>
              <a:rPr lang="en-US" dirty="0"/>
              <a:t>USER INTERFACE – LOGIN PAGE </a:t>
            </a:r>
          </a:p>
        </p:txBody>
      </p:sp>
      <p:pic>
        <p:nvPicPr>
          <p:cNvPr id="5" name="Content Placeholder 4">
            <a:extLst>
              <a:ext uri="{FF2B5EF4-FFF2-40B4-BE49-F238E27FC236}">
                <a16:creationId xmlns:a16="http://schemas.microsoft.com/office/drawing/2014/main" id="{3A91658E-1CA8-9ACE-2035-4FE762D2FF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25486"/>
            <a:ext cx="10515600" cy="5363850"/>
          </a:xfrm>
        </p:spPr>
      </p:pic>
    </p:spTree>
    <p:extLst>
      <p:ext uri="{BB962C8B-B14F-4D97-AF65-F5344CB8AC3E}">
        <p14:creationId xmlns:p14="http://schemas.microsoft.com/office/powerpoint/2010/main" val="1029382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5BDF9-04F0-6199-34A4-57C05A2462E9}"/>
              </a:ext>
            </a:extLst>
          </p:cNvPr>
          <p:cNvSpPr>
            <a:spLocks noGrp="1"/>
          </p:cNvSpPr>
          <p:nvPr>
            <p:ph type="title"/>
          </p:nvPr>
        </p:nvSpPr>
        <p:spPr>
          <a:xfrm>
            <a:off x="838199" y="18255"/>
            <a:ext cx="10515600" cy="1325563"/>
          </a:xfrm>
        </p:spPr>
        <p:txBody>
          <a:bodyPr/>
          <a:lstStyle/>
          <a:p>
            <a:r>
              <a:rPr lang="en-US" dirty="0"/>
              <a:t>USER INTERFACE – INDEX PAGE</a:t>
            </a:r>
          </a:p>
        </p:txBody>
      </p:sp>
      <p:pic>
        <p:nvPicPr>
          <p:cNvPr id="5" name="Content Placeholder 4">
            <a:extLst>
              <a:ext uri="{FF2B5EF4-FFF2-40B4-BE49-F238E27FC236}">
                <a16:creationId xmlns:a16="http://schemas.microsoft.com/office/drawing/2014/main" id="{BC217839-92C7-A124-B424-D26759A3D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093508"/>
            <a:ext cx="10515600" cy="5476973"/>
          </a:xfrm>
        </p:spPr>
      </p:pic>
    </p:spTree>
    <p:extLst>
      <p:ext uri="{BB962C8B-B14F-4D97-AF65-F5344CB8AC3E}">
        <p14:creationId xmlns:p14="http://schemas.microsoft.com/office/powerpoint/2010/main" val="2247871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AFB26-E5F6-6BB2-D6AC-7B38927DCF2F}"/>
              </a:ext>
            </a:extLst>
          </p:cNvPr>
          <p:cNvSpPr>
            <a:spLocks noGrp="1"/>
          </p:cNvSpPr>
          <p:nvPr>
            <p:ph type="title"/>
          </p:nvPr>
        </p:nvSpPr>
        <p:spPr/>
        <p:txBody>
          <a:bodyPr/>
          <a:lstStyle/>
          <a:p>
            <a:r>
              <a:rPr lang="en-US" dirty="0"/>
              <a:t>ADVANTAGES OF THE SYSTEM</a:t>
            </a:r>
          </a:p>
        </p:txBody>
      </p:sp>
      <p:sp>
        <p:nvSpPr>
          <p:cNvPr id="4" name="Rectangle 1">
            <a:extLst>
              <a:ext uri="{FF2B5EF4-FFF2-40B4-BE49-F238E27FC236}">
                <a16:creationId xmlns:a16="http://schemas.microsoft.com/office/drawing/2014/main" id="{D44C525B-D29C-2E66-0FFE-783E50CCF283}"/>
              </a:ext>
            </a:extLst>
          </p:cNvPr>
          <p:cNvSpPr>
            <a:spLocks noGrp="1" noChangeArrowheads="1"/>
          </p:cNvSpPr>
          <p:nvPr>
            <p:ph idx="1"/>
          </p:nvPr>
        </p:nvSpPr>
        <p:spPr bwMode="auto">
          <a:xfrm>
            <a:off x="838200" y="1690688"/>
            <a:ext cx="5387309" cy="22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400" dirty="0"/>
              <a:t>Easy and efficient financial tracking.</a:t>
            </a:r>
          </a:p>
          <a:p>
            <a:r>
              <a:rPr lang="en-US" sz="2400" dirty="0"/>
              <a:t>Secure authentication and data storage.</a:t>
            </a:r>
          </a:p>
          <a:p>
            <a:r>
              <a:rPr lang="en-US" sz="2400" dirty="0"/>
              <a:t>User-friendly interface.</a:t>
            </a:r>
          </a:p>
          <a:p>
            <a:r>
              <a:rPr lang="en-US" sz="2400" dirty="0"/>
              <a:t>Real-time balance calculation.</a:t>
            </a:r>
          </a:p>
          <a:p>
            <a:r>
              <a:rPr lang="en-US" sz="2400" dirty="0"/>
              <a:t>Scalable and maintainable architecture.</a:t>
            </a:r>
          </a:p>
        </p:txBody>
      </p:sp>
    </p:spTree>
    <p:extLst>
      <p:ext uri="{BB962C8B-B14F-4D97-AF65-F5344CB8AC3E}">
        <p14:creationId xmlns:p14="http://schemas.microsoft.com/office/powerpoint/2010/main" val="463751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89A14-A77C-460A-B2BD-74AB29870F18}"/>
              </a:ext>
            </a:extLst>
          </p:cNvPr>
          <p:cNvSpPr>
            <a:spLocks noGrp="1"/>
          </p:cNvSpPr>
          <p:nvPr>
            <p:ph type="title"/>
          </p:nvPr>
        </p:nvSpPr>
        <p:spPr/>
        <p:txBody>
          <a:bodyPr/>
          <a:lstStyle/>
          <a:p>
            <a:r>
              <a:rPr lang="en-US" dirty="0"/>
              <a:t>APPLICATIONS</a:t>
            </a:r>
          </a:p>
        </p:txBody>
      </p:sp>
      <p:sp>
        <p:nvSpPr>
          <p:cNvPr id="5" name="Rectangle 2">
            <a:extLst>
              <a:ext uri="{FF2B5EF4-FFF2-40B4-BE49-F238E27FC236}">
                <a16:creationId xmlns:a16="http://schemas.microsoft.com/office/drawing/2014/main" id="{2E98A647-259D-E0D5-63B7-B79A85098EA7}"/>
              </a:ext>
            </a:extLst>
          </p:cNvPr>
          <p:cNvSpPr>
            <a:spLocks noGrp="1" noChangeArrowheads="1"/>
          </p:cNvSpPr>
          <p:nvPr>
            <p:ph idx="1"/>
          </p:nvPr>
        </p:nvSpPr>
        <p:spPr bwMode="auto">
          <a:xfrm>
            <a:off x="838200" y="1690688"/>
            <a:ext cx="522784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Personal expense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Monthly budgeting.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Financial habit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Student and individual money tracking</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1652060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99FE5-1FC0-28A9-D6F5-C54181E782C2}"/>
              </a:ext>
            </a:extLst>
          </p:cNvPr>
          <p:cNvSpPr>
            <a:spLocks noGrp="1"/>
          </p:cNvSpPr>
          <p:nvPr>
            <p:ph type="title"/>
          </p:nvPr>
        </p:nvSpPr>
        <p:spPr/>
        <p:txBody>
          <a:bodyPr/>
          <a:lstStyle/>
          <a:p>
            <a:r>
              <a:rPr lang="en-US" dirty="0"/>
              <a:t>FUTURE ENHANCEMENTS</a:t>
            </a:r>
          </a:p>
        </p:txBody>
      </p:sp>
      <p:sp>
        <p:nvSpPr>
          <p:cNvPr id="4" name="Rectangle 1">
            <a:extLst>
              <a:ext uri="{FF2B5EF4-FFF2-40B4-BE49-F238E27FC236}">
                <a16:creationId xmlns:a16="http://schemas.microsoft.com/office/drawing/2014/main" id="{57873E36-04F1-62EC-E6DE-18E9BBF09015}"/>
              </a:ext>
            </a:extLst>
          </p:cNvPr>
          <p:cNvSpPr>
            <a:spLocks noGrp="1" noChangeArrowheads="1"/>
          </p:cNvSpPr>
          <p:nvPr>
            <p:ph idx="1"/>
          </p:nvPr>
        </p:nvSpPr>
        <p:spPr bwMode="auto">
          <a:xfrm>
            <a:off x="838200" y="1690688"/>
            <a:ext cx="540218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Graphical reports and charts.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Monthly and yearly financial summaries.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Export data to PDF or Excel.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Mobile application integration.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Budget alerts and notifications.</a:t>
            </a:r>
          </a:p>
        </p:txBody>
      </p:sp>
    </p:spTree>
    <p:extLst>
      <p:ext uri="{BB962C8B-B14F-4D97-AF65-F5344CB8AC3E}">
        <p14:creationId xmlns:p14="http://schemas.microsoft.com/office/powerpoint/2010/main" val="1368519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B956C-B49E-19A9-D84C-62F21D3936B0}"/>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50D5EAED-45D1-49FF-616E-E85B6A580134}"/>
              </a:ext>
            </a:extLst>
          </p:cNvPr>
          <p:cNvSpPr>
            <a:spLocks noGrp="1"/>
          </p:cNvSpPr>
          <p:nvPr>
            <p:ph idx="1"/>
          </p:nvPr>
        </p:nvSpPr>
        <p:spPr/>
        <p:txBody>
          <a:bodyPr>
            <a:normAutofit fontScale="85000" lnSpcReduction="10000"/>
          </a:bodyPr>
          <a:lstStyle/>
          <a:p>
            <a:r>
              <a:rPr lang="en-US" sz="2400" dirty="0"/>
              <a:t>The Personal Finance Tracker Management System provides an effective and reliable solution for managing personal finances in a secure and efficient manner. The system enables users to record, monitor, and manage their income and expenses systematically, helping them gain better control over their financial activities.</a:t>
            </a:r>
          </a:p>
          <a:p>
            <a:r>
              <a:rPr lang="en-US" sz="2400" dirty="0"/>
              <a:t>This project demonstrates the practical implementation of modern backend technologies such as </a:t>
            </a:r>
            <a:r>
              <a:rPr lang="en-US" sz="2400" b="1" dirty="0"/>
              <a:t>Spring Boot</a:t>
            </a:r>
            <a:r>
              <a:rPr lang="en-US" sz="2400" dirty="0"/>
              <a:t>, </a:t>
            </a:r>
            <a:r>
              <a:rPr lang="en-US" sz="2400" b="1" dirty="0"/>
              <a:t>RESTful APIs</a:t>
            </a:r>
            <a:r>
              <a:rPr lang="en-US" sz="2400" dirty="0"/>
              <a:t>, </a:t>
            </a:r>
            <a:r>
              <a:rPr lang="en-US" sz="2400" b="1" dirty="0"/>
              <a:t>Hibernate</a:t>
            </a:r>
            <a:r>
              <a:rPr lang="en-US" sz="2400" dirty="0"/>
              <a:t>, and </a:t>
            </a:r>
            <a:r>
              <a:rPr lang="en-US" sz="2400" b="1" dirty="0"/>
              <a:t>MySQL</a:t>
            </a:r>
            <a:r>
              <a:rPr lang="en-US" sz="2400" dirty="0"/>
              <a:t>, along with frontend integration using </a:t>
            </a:r>
            <a:r>
              <a:rPr lang="en-US" sz="2400" b="1" dirty="0"/>
              <a:t>HTML, CSS, and JavaScript</a:t>
            </a:r>
            <a:r>
              <a:rPr lang="en-US" sz="2400" dirty="0"/>
              <a:t>. Secure user authentication and password hashing mechanisms ensure data confidentiality and protect sensitive financial information.</a:t>
            </a:r>
          </a:p>
          <a:p>
            <a:r>
              <a:rPr lang="en-US" sz="2400" dirty="0"/>
              <a:t>By offering features such as real-time balance calculation, transaction history management, and secure data storage, the application enhances financial awareness and supports better budgeting and money management practices. The modular and layered architecture of the system makes it scalable, maintainable, and adaptable for future enhancements such as graphical reports, analytics, and mobile application support.</a:t>
            </a:r>
          </a:p>
          <a:p>
            <a:r>
              <a:rPr lang="en-US" sz="2400" dirty="0"/>
              <a:t>Overall, this project serves as a practical example of full-stack application development and provides a strong foundation for building advanced personal finance management systems.</a:t>
            </a:r>
          </a:p>
          <a:p>
            <a:endParaRPr lang="en-US" dirty="0"/>
          </a:p>
        </p:txBody>
      </p:sp>
    </p:spTree>
    <p:extLst>
      <p:ext uri="{BB962C8B-B14F-4D97-AF65-F5344CB8AC3E}">
        <p14:creationId xmlns:p14="http://schemas.microsoft.com/office/powerpoint/2010/main" val="37590898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DF266-C02C-950E-009A-9AE50014D45B}"/>
              </a:ext>
            </a:extLst>
          </p:cNvPr>
          <p:cNvSpPr>
            <a:spLocks noGrp="1"/>
          </p:cNvSpPr>
          <p:nvPr>
            <p:ph type="title"/>
          </p:nvPr>
        </p:nvSpPr>
        <p:spPr/>
        <p:txBody>
          <a:bodyPr/>
          <a:lstStyle/>
          <a:p>
            <a:r>
              <a:rPr lang="en-US" dirty="0"/>
              <a:t>LINKS:-</a:t>
            </a:r>
          </a:p>
        </p:txBody>
      </p:sp>
      <p:sp>
        <p:nvSpPr>
          <p:cNvPr id="3" name="Content Placeholder 2">
            <a:extLst>
              <a:ext uri="{FF2B5EF4-FFF2-40B4-BE49-F238E27FC236}">
                <a16:creationId xmlns:a16="http://schemas.microsoft.com/office/drawing/2014/main" id="{A216EE3C-3C5F-681B-BB18-B2326825A4CC}"/>
              </a:ext>
            </a:extLst>
          </p:cNvPr>
          <p:cNvSpPr>
            <a:spLocks noGrp="1"/>
          </p:cNvSpPr>
          <p:nvPr>
            <p:ph idx="1"/>
          </p:nvPr>
        </p:nvSpPr>
        <p:spPr/>
        <p:txBody>
          <a:bodyPr/>
          <a:lstStyle/>
          <a:p>
            <a:r>
              <a:rPr lang="en-US" dirty="0"/>
              <a:t>RECORDING LINK: https://drive.google.com/file/d/1AV3ivbFq0784k2u0Ua-UPzOJCCC-EDZx/view?usp=sharing</a:t>
            </a:r>
          </a:p>
          <a:p>
            <a:pPr marL="0" indent="0">
              <a:buNone/>
            </a:pPr>
            <a:endParaRPr lang="en-US" dirty="0"/>
          </a:p>
          <a:p>
            <a:r>
              <a:rPr lang="en-US" dirty="0"/>
              <a:t>GITHUB REPOSITORY LINK: https://github.com/shyam162005/Shyam_43111370.git</a:t>
            </a:r>
          </a:p>
        </p:txBody>
      </p:sp>
    </p:spTree>
    <p:extLst>
      <p:ext uri="{BB962C8B-B14F-4D97-AF65-F5344CB8AC3E}">
        <p14:creationId xmlns:p14="http://schemas.microsoft.com/office/powerpoint/2010/main" val="25901702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1099</Words>
  <Application>Microsoft Office PowerPoint</Application>
  <PresentationFormat>Widescreen</PresentationFormat>
  <Paragraphs>130</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Case Study on Personal Finance Tracker Management System</vt:lpstr>
      <vt:lpstr>                          INTRODUCTION</vt:lpstr>
      <vt:lpstr>                                ABSTRACT</vt:lpstr>
      <vt:lpstr>                      CLIENT REQUIREMENT</vt:lpstr>
      <vt:lpstr>WHAT WE ARE GOING TO BUILD</vt:lpstr>
      <vt:lpstr>TECHNICAL FEATURES</vt:lpstr>
      <vt:lpstr>TECHNOLOGIES AND TOOLS USED</vt:lpstr>
      <vt:lpstr>SYSTEM REQUIREMENTS</vt:lpstr>
      <vt:lpstr>PROJECT MODULES</vt:lpstr>
      <vt:lpstr>ER DIAGRAM</vt:lpstr>
      <vt:lpstr>SYSTEM ARCHITECTURE</vt:lpstr>
      <vt:lpstr>Client - Server Architecture</vt:lpstr>
      <vt:lpstr>USER AUTHENTICATION MODULE</vt:lpstr>
      <vt:lpstr>TRANSACTION MANAGEMENT MODULE</vt:lpstr>
      <vt:lpstr>HTTP REQUEST METHODS USED</vt:lpstr>
      <vt:lpstr>                         DATA DICTIONARY</vt:lpstr>
      <vt:lpstr>TABLES OF DATABASE</vt:lpstr>
      <vt:lpstr>PowerPoint Presentation</vt:lpstr>
      <vt:lpstr>USER CREDENTIALS</vt:lpstr>
      <vt:lpstr>TRANSACTIONS</vt:lpstr>
      <vt:lpstr>POST METHOD FOR LOGIN</vt:lpstr>
      <vt:lpstr>POST METHOD FOR TRANSACTIONS</vt:lpstr>
      <vt:lpstr>GET METHOD FOR TRANSACTIONS</vt:lpstr>
      <vt:lpstr>PowerPoint Presentation</vt:lpstr>
      <vt:lpstr>USER INTERFACE – LOGIN PAGE </vt:lpstr>
      <vt:lpstr>USER INTERFACE – INDEX PAGE</vt:lpstr>
      <vt:lpstr>ADVANTAGES OF THE SYSTEM</vt:lpstr>
      <vt:lpstr>APPLICATIONS</vt:lpstr>
      <vt:lpstr>FUTURE ENHANCEMENTS</vt:lpstr>
      <vt:lpstr>CONCLUSION</vt:lpstr>
      <vt:lpstr>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Gopi Gnanadeesigan</dc:creator>
  <cp:lastModifiedBy>Gopi Gnanadeesigan</cp:lastModifiedBy>
  <cp:revision>1</cp:revision>
  <dcterms:created xsi:type="dcterms:W3CDTF">2025-12-20T13:56:54Z</dcterms:created>
  <dcterms:modified xsi:type="dcterms:W3CDTF">2025-12-20T15:03:18Z</dcterms:modified>
</cp:coreProperties>
</file>